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73FF"/>
                </a:solidFill>
                <a:latin typeface="Consolas"/>
              </a:rPr>
              <a:t>PROJECT HIS · FRANKFURT UNIVERSITY OF APPLIED SCIENCES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8E8F0"/>
                </a:solidFill>
                <a:latin typeface="Segoe UI Semibold"/>
              </a:rPr>
              <a:t>KTC-Vis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9AA0B4"/>
                </a:solidFill>
                <a:latin typeface="Segoe UI"/>
              </a:rPr>
              <a:t>An interactive benchmarking dashboard that puts three EIT reconstruction algorithms — ABC1, CUQI8, PNPE2E — side by side, across all seven official KTC2023 difficulty levels.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CAD6"/>
                </a:solidFill>
                <a:latin typeface="Segoe UI"/>
              </a:rPr>
              <a:t>Guided by Prof. Dr. Martin Simon &amp; Emanuele Pepe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CAD6"/>
                </a:solidFill>
                <a:latin typeface="Segoe UI"/>
              </a:rPr>
              <a:t>Team: Muzammal · Savani · Bhuva · Paul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No tool puts all three KTC2023 algorithms in one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A0B4"/>
                </a:solidFill>
                <a:latin typeface="Segoe UI"/>
              </a:rPr>
              <a:t>Electrical Impedance Tomography reconstructs what's inside a tank from current/voltage measurements at its rim only — an ill-posed inverse problem that gets harder as electrodes drop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394960" cy="32918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What already exists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>
                <a:solidFill>
                  <a:srgbClr val="9AA0B4"/>
                </a:solidFill>
                <a:latin typeface="Segoe UI"/>
              </a:rPr>
              <a:t>pyEIT — a classical EIT toolkit (back-projection, Gauss-Newton, FEM meshing). Focused on the algorithm layer, not on comparing finished submissions.
OpenEIT — built for live hardware streaming, not offline multi-algorithm benchmarking.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394960" cy="32918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8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The gap KTC-Vis fills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>
                <a:solidFill>
                  <a:srgbClr val="9AA0B4"/>
                </a:solidFill>
                <a:latin typeface="Segoe UI"/>
              </a:rPr>
              <a:t>Load all three KTC2023 competition submissions, run them on identical data, and interactively compare reconstruction quality, failure modes, and raw measurements — across 7 difficulty levels and 4 phantom samples — in one reproducible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WHAT IT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Five design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57600" cy="16916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250" b="1">
                <a:solidFill>
                  <a:srgbClr val="E8E8F0"/>
                </a:solidFill>
                <a:latin typeface="Segoe UI Semibold"/>
              </a:rPr>
              <a:t>1 · Reproducibility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>
                <a:solidFill>
                  <a:srgbClr val="9AA0B4"/>
                </a:solidFill>
                <a:latin typeface="Segoe UI"/>
              </a:rPr>
              <a:t>Every experiment is a YAML config plus an HDF5 cache — any run is exactly repeatable.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65960"/>
            <a:ext cx="3657600" cy="16916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250" b="1">
                <a:solidFill>
                  <a:srgbClr val="E8E8F0"/>
                </a:solidFill>
                <a:latin typeface="Segoe UI Semibold"/>
              </a:rPr>
              <a:t>2 · Extensibility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>
                <a:solidFill>
                  <a:srgbClr val="9AA0B4"/>
                </a:solidFill>
                <a:latin typeface="Segoe UI"/>
              </a:rPr>
              <a:t>Adding a 4th algorithm means writing one AlgorithmAdapter subclass — nothing else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965960"/>
            <a:ext cx="3657600" cy="16916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250" b="1">
                <a:solidFill>
                  <a:srgbClr val="E8E8F0"/>
                </a:solidFill>
                <a:latin typeface="Segoe UI Semibold"/>
              </a:rPr>
              <a:t>3 · Multi-dimensional evaluation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>
                <a:solidFill>
                  <a:srgbClr val="9AA0B4"/>
                </a:solidFill>
                <a:latin typeface="Segoe UI"/>
              </a:rPr>
              <a:t>18 metrics x 3 algorithms x 7 levels x 4 samples — quality, shape, class accuracy, fit,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3657600" cy="16916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250" b="1">
                <a:solidFill>
                  <a:srgbClr val="E8E8F0"/>
                </a:solidFill>
                <a:latin typeface="Segoe UI Semibold"/>
              </a:rPr>
              <a:t>4 · Visual explainability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>
                <a:solidFill>
                  <a:srgbClr val="9AA0B4"/>
                </a:solidFill>
                <a:latin typeface="Segoe UI"/>
              </a:rPr>
              <a:t>Every metric links to a picture: low SSIM -&gt; spatial map, high voltage residual -&gt; measurement 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94760"/>
            <a:ext cx="3657600" cy="16916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250" b="1">
                <a:solidFill>
                  <a:srgbClr val="E8E8F0"/>
                </a:solidFill>
                <a:latin typeface="Segoe UI Semibold"/>
              </a:rPr>
              <a:t>5 · Measurement-domain visibility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>
                <a:solidFill>
                  <a:srgbClr val="9AA0B4"/>
                </a:solidFill>
                <a:latin typeface="Segoe UI"/>
              </a:rPr>
              <a:t>Raw current, voltage and resistance are explorable on their own, independent of reconstruction.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794760"/>
            <a:ext cx="3657600" cy="16916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9A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250" b="1">
                <a:solidFill>
                  <a:srgbClr val="E8E8F0"/>
                </a:solidFill>
                <a:latin typeface="Segoe UI Semibold"/>
              </a:rPr>
              <a:t>Result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050">
                <a:solidFill>
                  <a:srgbClr val="9AA0B4"/>
                </a:solidFill>
                <a:latin typeface="Segoe UI"/>
              </a:rPr>
              <a:t>Six dashboard modules, one shared sidebar, 84 benchmark combinations cached once and reused everywhere.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THE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The KTC2023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394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AA0B4"/>
                </a:solidFill>
                <a:latin typeface="Segoe UI"/>
              </a:rPr>
              <a:t>A shallow circular water tank (23 cm diameter) ringed with 32 stainless-steel electrodes, with plastic and metal cylindrical inclusions dropped in. The task: reconstruct a 256x256 segmented image of water / resistive / conductive regions from electrode measurements alone.</a:t>
            </a:r>
          </a:p>
          <a:p>
            <a:pPr algn="l">
              <a:lnSpc>
                <a:spcPct val="130000"/>
              </a:lnSpc>
            </a:pPr>
            <a:endParaRPr sz="1300" b="0" i="0">
              <a:solidFill>
                <a:srgbClr val="9AA0B4"/>
              </a:solidFill>
              <a:latin typeface="Segoe UI"/>
            </a:endParaRP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AA0B4"/>
                </a:solidFill>
                <a:latin typeface="Segoe UI"/>
              </a:rPr>
              <a:t>Seven official difficulty levels progressively remove electrodes and measurements to simulate degraded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A0B4"/>
                </a:solidFill>
                <a:latin typeface="Consolas"/>
              </a:rPr>
              <a:t>Source: Zenodo v3 -- doi:10.5281/zenodo.10986692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965960"/>
          <a:ext cx="53492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9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7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73FF"/>
                          </a:solidFill>
                          <a:latin typeface="Consolas"/>
                        </a:rPr>
                        <a:t>Level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73FF"/>
                          </a:solidFill>
                          <a:latin typeface="Consolas"/>
                        </a:rPr>
                        <a:t>Electrodes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73FF"/>
                          </a:solidFill>
                          <a:latin typeface="Consolas"/>
                        </a:rPr>
                        <a:t>Measurements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73FF"/>
                          </a:solidFill>
                          <a:latin typeface="Consolas"/>
                        </a:rPr>
                        <a:t>% of L1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2356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1624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69%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1404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60%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1200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51%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1012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43%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630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27%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513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C9CAD6"/>
                          </a:solidFill>
                          <a:latin typeface="Segoe UI"/>
                        </a:rPr>
                        <a:t>22%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WHAT'S BEING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Three algorithms, three philosophies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657600" cy="356616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228600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5B8DEF"/>
                </a:solidFill>
                <a:latin typeface="Consolas"/>
              </a:rPr>
              <a:t>ABC1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C9CAD6"/>
                </a:solidFill>
                <a:latin typeface="Segoe UI"/>
              </a:rPr>
              <a:t>Smoothness-prior reconstruction repaired by a CNN postprocessor. Learning enters after the physics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4340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Strong: levels 1-3, fast, clean.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Fails as: ghost inclusions, boundary erosion.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657600" cy="356616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E85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07992" y="228600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E85D75"/>
                </a:solidFill>
                <a:latin typeface="Consolas"/>
              </a:rPr>
              <a:t>CUQI8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7432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C9CAD6"/>
                </a:solidFill>
                <a:latin typeface="Segoe UI"/>
              </a:rPr>
              <a:t>Level-set + total-variation forward model. Pure optimization -- no neural network, needs FEniCS/FEM at every iteration.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434340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Strong: levels 5-7, stable, geometry-aware.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Fails as: missing inclusions (wrong region count).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3657600" cy="356616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F4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02752" y="228600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F4C870"/>
                </a:solidFill>
                <a:latin typeface="Consolas"/>
              </a:rPr>
              <a:t>PNPE2E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743200"/>
            <a:ext cx="3337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C9CAD6"/>
                </a:solidFill>
                <a:latin typeface="Segoe UI"/>
              </a:rPr>
              <a:t>End-to-end U-Net + Plug-and-Play Graph U-Net. Learning enters both before and during refinement.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434340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Strong: difficulty-adaptive across all levels.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Fails as: class flips, mask suppression.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AA0B4"/>
                </a:solidFill>
                <a:latin typeface="Segoe UI"/>
              </a:rPr>
              <a:t>Same tradeoff triangle the Fingerprint Radar (M4) visualizes later: fast-and-fragile vs. slow-and-robust vs. balanced.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874519"/>
            <a:ext cx="3657600" cy="640080"/>
          </a:xfrm>
          <a:prstGeom prst="roundRect">
            <a:avLst>
              <a:gd name="adj" fmla="val 12000"/>
            </a:avLst>
          </a:prstGeom>
          <a:solidFill>
            <a:srgbClr val="161628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KTC2023 .mat files</a:t>
            </a:r>
          </a:p>
          <a:p>
            <a:pPr algn="ctr"/>
            <a:r>
              <a:rPr sz="950">
                <a:solidFill>
                  <a:srgbClr val="9AA0B4"/>
                </a:solidFill>
                <a:latin typeface="Consolas"/>
              </a:rPr>
              <a:t>Zenodo v3 -- currents, voltages,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6168" y="25420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AA0B4"/>
                </a:solidFill>
                <a:latin typeface="Segoe UI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8803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61628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Reference-Output Path</a:t>
            </a:r>
          </a:p>
          <a:p>
            <a:pPr algn="ctr"/>
            <a:r>
              <a:rPr sz="950">
                <a:solidFill>
                  <a:srgbClr val="9AA0B4"/>
                </a:solidFill>
                <a:latin typeface="Consolas"/>
              </a:rPr>
              <a:t>ReferenceOutputAdapter -- no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288036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161628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Live Docker Path</a:t>
            </a:r>
          </a:p>
          <a:p>
            <a:pPr algn="ctr"/>
            <a:r>
              <a:rPr sz="950">
                <a:solidFill>
                  <a:srgbClr val="9AA0B4"/>
                </a:solidFill>
                <a:latin typeface="Consolas"/>
              </a:rPr>
              <a:t>ABC1 - CUQI8 - PNPE2E containers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AA0B4"/>
                </a:solidFill>
                <a:latin typeface="Segoe UI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AA0B4"/>
                </a:solidFill>
                <a:latin typeface="Segoe U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931920"/>
            <a:ext cx="7799831" cy="685800"/>
          </a:xfrm>
          <a:prstGeom prst="roundRect">
            <a:avLst>
              <a:gd name="adj" fmla="val 12000"/>
            </a:avLst>
          </a:prstGeom>
          <a:solidFill>
            <a:srgbClr val="252538"/>
          </a:solidFill>
          <a:ln w="19050">
            <a:solidFill>
              <a:srgbClr val="8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Metrics Engine -&gt; HDF5 Cache</a:t>
            </a:r>
          </a:p>
          <a:p>
            <a:pPr algn="ctr"/>
            <a:r>
              <a:rPr sz="950">
                <a:solidFill>
                  <a:srgbClr val="9AA0B4"/>
                </a:solidFill>
                <a:latin typeface="Consolas"/>
              </a:rPr>
              <a:t>18 metrics -- results/{algorithm}/{level}/{sample}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6168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AA0B4"/>
                </a:solidFill>
                <a:latin typeface="Segoe U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983480"/>
            <a:ext cx="7799831" cy="1234440"/>
          </a:xfrm>
          <a:prstGeom prst="roundRect">
            <a:avLst>
              <a:gd name="adj" fmla="val 12000"/>
            </a:avLst>
          </a:prstGeom>
          <a:solidFill>
            <a:srgbClr val="161628"/>
          </a:solidFill>
          <a:ln w="12700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Plotly Dash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5476" y="5623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6764" y="5623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8052" y="5623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9340" y="5623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0628" y="5623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71916" y="562356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E1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HOW TO STAND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Data &amp; benchmark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A0B4"/>
                </a:solidFill>
                <a:latin typeface="Segoe UI"/>
              </a:rPr>
              <a:t>Both paths converge on the same cache format -- the dashboard never knows which one produced a given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1810512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2578608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73FF"/>
                </a:solidFill>
                <a:latin typeface="Consolas"/>
              </a:rPr>
              <a:t>setup_third_party.sh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063240"/>
            <a:ext cx="1591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0B4"/>
                </a:solidFill>
                <a:latin typeface="Segoe UI"/>
              </a:rPr>
              <a:t>Clone the three external algorithm repos.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0B4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68296" y="2468880"/>
            <a:ext cx="1810512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78024" y="2578608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73FF"/>
                </a:solidFill>
                <a:latin typeface="Consolas"/>
              </a:rPr>
              <a:t>stage_dataset.py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3063240"/>
            <a:ext cx="1591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0B4"/>
                </a:solidFill>
                <a:latin typeface="Segoe UI"/>
              </a:rPr>
              <a:t>Consolidate into data/raw/ktc2023/.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0B4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2468880"/>
            <a:ext cx="1810512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578608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73FF"/>
                </a:solidFill>
                <a:latin typeface="Consolas"/>
              </a:rPr>
              <a:t>validate_data.py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63240"/>
            <a:ext cx="1591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0B4"/>
                </a:solidFill>
                <a:latin typeface="Segoe UI"/>
              </a:rPr>
              <a:t>Verify .mat keys, shapes, pixel values per level.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0B4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2468880"/>
            <a:ext cx="1810512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08776" y="2578608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73FF"/>
                </a:solidFill>
                <a:latin typeface="Consolas"/>
              </a:rPr>
              <a:t>populate_cache_from_reference.py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3063240"/>
            <a:ext cx="1591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0B4"/>
                </a:solidFill>
                <a:latin typeface="Segoe UI"/>
              </a:rPr>
              <a:t>Fast path -- no Docker, instant dashboard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2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0B4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4424" y="2468880"/>
            <a:ext cx="1810512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74152" y="2578608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73FF"/>
                </a:solidFill>
                <a:latin typeface="Consolas"/>
              </a:rPr>
              <a:t>run_benchmark.py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3063240"/>
            <a:ext cx="1591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0B4"/>
                </a:solidFill>
                <a:latin typeface="Segoe UI"/>
              </a:rPr>
              <a:t>Full path -- live Docker reconstructions + real runtimes.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3200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0B4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468880"/>
            <a:ext cx="1810512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39528" y="2578608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73FF"/>
                </a:solidFill>
                <a:latin typeface="Consolas"/>
              </a:rPr>
              <a:t>app.py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3063240"/>
            <a:ext cx="159105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9AA0B4"/>
                </a:solidFill>
                <a:latin typeface="Segoe UI"/>
              </a:rPr>
              <a:t>Launch -&gt; http://localhost:8050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Fast path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9AA0B4"/>
                </a:solidFill>
                <a:latin typeface="Segoe UI"/>
              </a:rPr>
              <a:t>Reads pre-computed reference_outputs/&lt;algo&gt;/level&lt;N&gt;/ -- seconds, no Docker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709160"/>
            <a:ext cx="5394960" cy="141732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Full path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9AA0B4"/>
                </a:solidFill>
                <a:latin typeface="Segoe UI"/>
              </a:rPr>
              <a:t>run_benchmark.py shells out to each algorithm's Docker image, batching by level where supported -- hours, but produces real reconstructions and real timings.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SIX MODULES, ONE SIDEBAR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Dashboard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A0B4"/>
                </a:solidFill>
                <a:latin typeface="Segoe UI"/>
              </a:rPr>
              <a:t>Algorithm, difficulty level, and sample selectors live in one shared sidebar and drive every tab identically.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657600" cy="178308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13232" y="249631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535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Reconstruction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3192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Ground truth vs. one algorithm's output, segmented and error-mapped.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31720"/>
            <a:ext cx="3657600" cy="178308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07992" y="249631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9535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Difficulty Animator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33192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Play levels 1-&gt;7 and watch quality curves degrade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31720"/>
            <a:ext cx="3657600" cy="178308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2752" y="249631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535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Comparison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31927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All three algorithms, one case, side by side plus a full scorecard.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51960"/>
            <a:ext cx="3657600" cy="178308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13232" y="441655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873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Fingerprint Radar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23951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9-axis shape comparison of every algorithm's strengths.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251960"/>
            <a:ext cx="3657600" cy="178308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07992" y="441655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873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Failure Autopsy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523951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Ranked worst cases with an auto-diagnosed A-E failure type.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251960"/>
            <a:ext cx="3657600" cy="178308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02752" y="4416552"/>
            <a:ext cx="685800" cy="365760"/>
          </a:xfrm>
          <a:prstGeom prst="roundRect">
            <a:avLst>
              <a:gd name="adj" fmla="val 50000"/>
            </a:avLst>
          </a:prstGeom>
          <a:solidFill>
            <a:srgbClr val="25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200" b="1">
                <a:solidFill>
                  <a:srgbClr val="8B73FF"/>
                </a:solidFill>
                <a:latin typeface="Consolas"/>
              </a:rPr>
              <a:t>M6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873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Measurement 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39512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AA0B4"/>
                </a:solidFill>
                <a:latin typeface="Segoe UI"/>
              </a:rPr>
              <a:t>Raw current/voltage/resistance, independent of any algorithm.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777240" cy="5029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Consolas"/>
              </a:rPr>
              <a:t>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F0"/>
                </a:solidFill>
                <a:latin typeface="Segoe UI Semibold"/>
              </a:rPr>
              <a:t>Reconstruction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0B4"/>
                </a:solidFill>
                <a:latin typeface="Segoe UI"/>
              </a:rPr>
              <a:t>One case, four panels: is this reconstruction any good, and why or why not?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Ground Truth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the true phantom, 3-class heatmap. Why: the answer key everything else is judged against.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Reconstruction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continuous Viridis heatmap of the raw output. Why: reveals blur/smoothing before it's hardened into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Segmentation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the same output on Ground Truth's colorscale. Why: apples-to-apples visual diff, region-finding 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Error Overlay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green/red/blue/yellow per-pixel outcome map. Why: shows exactly where and how the algorithm is wrong.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777240" cy="5029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Consolas"/>
              </a:rPr>
              <a:t>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F0"/>
                </a:solidFill>
                <a:latin typeface="Segoe UI Semibold"/>
              </a:rPr>
              <a:t>Difficulty Animator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0B4"/>
                </a:solidFill>
                <a:latin typeface="Segoe UI"/>
              </a:rPr>
              <a:t>Does an algorithm fail gracefully, or fall off a cliff -- and at which level?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Play 1-&gt;7 animation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GT / segmentation / error images re-rendered per level. How: cached reconstructions, 1.2s/level auto-advance.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7 degradation curves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SSIM, IoU, Dice, Hausdorff, Position Error, Resolution, Runtime -- one line per metric, dashed marker at the current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Level context bar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% of Level-1 data remaining. Why: ties the abstract level number to a concrete data-loss severity.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Auto commentary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Plain-English verdict per metric, plus the exact level where SSIM first drops below 0.60.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777240" cy="5029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Consolas"/>
              </a:rPr>
              <a:t>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F0"/>
                </a:solidFill>
                <a:latin typeface="Segoe UI Semibold"/>
              </a:rPr>
              <a:t>Side-by-Side Comparison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0B4"/>
                </a:solidFill>
                <a:latin typeface="Segoe UI"/>
              </a:rPr>
              <a:t>Which algorithm actually wins on this exact case, and by how much?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3 reconstruction heatmaps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ABC1, CUQI8, PNPE2E rendered together -- no sidebar-flipping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3 pairwise difference maps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-2...+2 diverging heatmap per pair. Why: shows if disagreement is boundary jitter or fundamental.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Voltage Measurement chart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What: grouped bar per injection/channel. Why: is a bad result a weak-data problem, not an algorithm problem?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Full metrics scorecard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All 18 metrics, 3 algorithms, best-per-row starred -- the numeric ground truth behind the pictures.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777240" cy="5029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Consolas"/>
              </a:rPr>
              <a:t>M4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F0"/>
                </a:solidFill>
                <a:latin typeface="Segoe UI Semibold"/>
              </a:rPr>
              <a:t>Fingerprint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0B4"/>
                </a:solidFill>
                <a:latin typeface="Segoe UI"/>
              </a:rPr>
              <a:t>One shape per algorithm -- the tradeoff triangle from slide 5, made visual.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9-axis radar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Total/Easy/Hard SSIM, IoU Conductive/Resistive, Speed, Robustness, Voltage Residual, Curr. Sensitivity -- normalised so outward always means better.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Profile mini-bars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Each algorithm's top-3 strongest axes, one glance, no radar-reading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Performance heatmap table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Exact normalised score + raw value per axis x algorithm -- the radar's precise companion.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Axes guide legend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Static reference explaining what each axis measures and which are inverted.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777240" cy="5029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Consolas"/>
              </a:rPr>
              <a:t>M5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F0"/>
                </a:solidFill>
                <a:latin typeface="Segoe UI Semibold"/>
              </a:rPr>
              <a:t>Failure Autopsy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0B4"/>
                </a:solidFill>
                <a:latin typeface="Segoe UI"/>
              </a:rPr>
              <a:t>Root-cause a specific bad result -- not just flag that it's bad.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Ranked worst-case list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All cached cases by ascending SSIM -- jump straight to the worst instead of stepping through 84 combos.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Spatial SSIM + confusion matrix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Which pixels, and which class-confusion pattern, drove the score 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Boundary + measurement polars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Do errors cluster near removed electrodes? Was the raw signal even there to reconstruct?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Auto failure badge (A-E)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With a 'why this badge' bar chart -- the classification is auditable, not a black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57799"/>
            <a:ext cx="2066544" cy="777240"/>
          </a:xfrm>
          <a:prstGeom prst="roundRect">
            <a:avLst>
              <a:gd name="adj" fmla="val 8000"/>
            </a:avLst>
          </a:prstGeom>
          <a:solidFill>
            <a:srgbClr val="1E1E2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sz="1100" b="1">
                <a:solidFill>
                  <a:srgbClr val="E8E8F0"/>
                </a:solidFill>
                <a:latin typeface="Segoe UI Semibold"/>
              </a:rPr>
              <a:t>A - Ghost</a:t>
            </a:r>
          </a:p>
          <a:p>
            <a:r>
              <a:rPr sz="900">
                <a:solidFill>
                  <a:srgbClr val="9AA0B4"/>
                </a:solidFill>
                <a:latin typeface="Segoe UI"/>
              </a:rPr>
              <a:t>FP-dominant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2344" y="5257799"/>
            <a:ext cx="2066544" cy="777240"/>
          </a:xfrm>
          <a:prstGeom prst="roundRect">
            <a:avLst>
              <a:gd name="adj" fmla="val 8000"/>
            </a:avLst>
          </a:prstGeom>
          <a:solidFill>
            <a:srgbClr val="1E1E2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sz="1100" b="1">
                <a:solidFill>
                  <a:srgbClr val="E8E8F0"/>
                </a:solidFill>
                <a:latin typeface="Segoe UI Semibold"/>
              </a:rPr>
              <a:t>B - Missing</a:t>
            </a:r>
          </a:p>
          <a:p>
            <a:r>
              <a:rPr sz="900">
                <a:solidFill>
                  <a:srgbClr val="9AA0B4"/>
                </a:solidFill>
                <a:latin typeface="Segoe UI"/>
              </a:rPr>
              <a:t>FN-dominant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5257799"/>
            <a:ext cx="2066544" cy="777240"/>
          </a:xfrm>
          <a:prstGeom prst="roundRect">
            <a:avLst>
              <a:gd name="adj" fmla="val 8000"/>
            </a:avLst>
          </a:prstGeom>
          <a:solidFill>
            <a:srgbClr val="1E1E2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sz="1100" b="1">
                <a:solidFill>
                  <a:srgbClr val="E8E8F0"/>
                </a:solidFill>
                <a:latin typeface="Segoe UI Semibold"/>
              </a:rPr>
              <a:t>C - Class flip</a:t>
            </a:r>
          </a:p>
          <a:p>
            <a:r>
              <a:rPr sz="900">
                <a:solidFill>
                  <a:srgbClr val="9AA0B4"/>
                </a:solidFill>
                <a:latin typeface="Segoe UI"/>
              </a:rPr>
              <a:t>Off-diagonal swap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59752" y="5257799"/>
            <a:ext cx="2066544" cy="777240"/>
          </a:xfrm>
          <a:prstGeom prst="roundRect">
            <a:avLst>
              <a:gd name="adj" fmla="val 8000"/>
            </a:avLst>
          </a:prstGeom>
          <a:solidFill>
            <a:srgbClr val="1E1E2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sz="1100" b="1">
                <a:solidFill>
                  <a:srgbClr val="E8E8F0"/>
                </a:solidFill>
                <a:latin typeface="Segoe UI Semibold"/>
              </a:rPr>
              <a:t>D - Erosion</a:t>
            </a:r>
          </a:p>
          <a:p>
            <a:r>
              <a:rPr sz="900">
                <a:solidFill>
                  <a:srgbClr val="9AA0B4"/>
                </a:solidFill>
                <a:latin typeface="Segoe UI"/>
              </a:rPr>
              <a:t>Shrunk footprint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3456" y="5257799"/>
            <a:ext cx="2066544" cy="777240"/>
          </a:xfrm>
          <a:prstGeom prst="roundRect">
            <a:avLst>
              <a:gd name="adj" fmla="val 8000"/>
            </a:avLst>
          </a:prstGeom>
          <a:solidFill>
            <a:srgbClr val="1E1E2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54864" rIns="73152" rtlCol="0" anchor="ctr"/>
          <a:lstStyle/>
          <a:p>
            <a:pPr algn="ctr"/>
            <a:r>
              <a:rPr sz="1100" b="1">
                <a:solidFill>
                  <a:srgbClr val="E8E8F0"/>
                </a:solidFill>
                <a:latin typeface="Segoe UI Semibold"/>
              </a:rPr>
              <a:t>E - Suppression</a:t>
            </a:r>
          </a:p>
          <a:p>
            <a:r>
              <a:rPr sz="900">
                <a:solidFill>
                  <a:srgbClr val="9AA0B4"/>
                </a:solidFill>
                <a:latin typeface="Segoe UI"/>
              </a:rPr>
              <a:t>PNPE2E-specific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777240" cy="50292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9144" rIns="45720" bIns="9144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Consolas"/>
              </a:rPr>
              <a:t>M6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84048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E8F0"/>
                </a:solidFill>
                <a:latin typeface="Segoe UI Semibold"/>
              </a:rPr>
              <a:t>Measurement Domain Viewer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A0B4"/>
                </a:solidFill>
                <a:latin typeface="Segoe UI"/>
              </a:rPr>
              <a:t>Is this a bad measurement, or a bad algorithm? 13 panels, algorithm-independent.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Current &amp; voltage (4 panels)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Injected current polar, measured-vs-reference voltage overlay, dV signal, per-pair SNR.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Resistance (5 panels)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R-per-pair, dR anomaly signal, all-injections overlay, mean+-std summary, contact-quality per electrode.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Anomaly &amp; coverage (4 panels)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Per-injection anomaly score, stability (CV), coverage-per-level chart, full polar coverage 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474720"/>
            <a:ext cx="5349240" cy="1572768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CSV export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R/V/I for the selected injection, one click -- for offline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THE SCOREBOARD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18-metric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Image Quality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SSIM
SSIM (min / spatial)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6596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Shape Matching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Hausdorff distance
Position error
Resolution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96596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Class Specific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IoU x 3 classes + mean
Dice x 3 classes + mean
Confusion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Measurement Domain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Voltage residual
Resistance consistency
Current sensitivity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Efficiency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Runtime (s)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977639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9A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Scale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00">
                <a:solidFill>
                  <a:srgbClr val="9AA0B4"/>
                </a:solidFill>
                <a:latin typeface="Segoe UI"/>
              </a:rPr>
              <a:t>18 metrics x 3 algorithms x 7 levels x 4 samples -- cached once in HDF5, reused across every module.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WHO USES THIS, AND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Five use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11226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The 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3288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C9CAD6"/>
                </a:solidFill>
                <a:latin typeface="Segoe UI"/>
              </a:rPr>
              <a:t>“Which algorithm should I trust at Level 6?”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832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73FF"/>
                </a:solidFill>
                <a:latin typeface="Consolas"/>
              </a:rPr>
              <a:t>-&gt; M3 + M4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211226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The Debugger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53288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C9CAD6"/>
                </a:solidFill>
                <a:latin typeface="Segoe UI"/>
              </a:rPr>
              <a:t>“Why did CUQI8 fail on sample C at Level 5?”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3832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73FF"/>
                </a:solidFill>
                <a:latin typeface="Consolas"/>
              </a:rPr>
              <a:t>-&gt; M5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65960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11226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The 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53288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C9CAD6"/>
                </a:solidFill>
                <a:latin typeface="Segoe UI"/>
              </a:rPr>
              <a:t>“Show me one reconstruction, start to finish.”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38328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73FF"/>
                </a:solidFill>
                <a:latin typeface="Consolas"/>
              </a:rPr>
              <a:t>-&gt; M1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12394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The Data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54456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C9CAD6"/>
                </a:solidFill>
                <a:latin typeface="Segoe UI"/>
              </a:rPr>
              <a:t>“Is this a bad measurement, or a bad algorithm?”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39495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73FF"/>
                </a:solidFill>
                <a:latin typeface="Consolas"/>
              </a:rPr>
              <a:t>-&gt; M6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977639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412394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The Presenter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54456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C9CAD6"/>
                </a:solidFill>
                <a:latin typeface="Segoe UI"/>
              </a:rPr>
              <a:t>“How does quality degrade as electrodes drop?”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5394959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8B73FF"/>
                </a:solidFill>
                <a:latin typeface="Consolas"/>
              </a:rPr>
              <a:t>-&gt; M2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77639"/>
            <a:ext cx="3657600" cy="182880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9A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endParaRPr/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12394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E8F0"/>
                </a:solidFill>
                <a:latin typeface="Segoe UI Semibold"/>
              </a:rPr>
              <a:t>Every one of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54456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C9CAD6"/>
                </a:solidFill>
                <a:latin typeface="Segoe UI"/>
              </a:rPr>
              <a:t>Starts from the same shared sidebar -- no re-loading data between questions.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Environment, Docker &amp; 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94960" cy="19202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Conda environment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9AA0B4"/>
                </a:solidFill>
                <a:latin typeface="Segoe UI"/>
              </a:rPr>
              <a:t>Python 3.10.13 - Dash 2.14.2 - Plotly 5.18.0 - NumPy/SciPy/scikit-image - PyTorch 2.0.1 (CPU) - pyeit - mat73 - torch-geometric - deepinv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394960" cy="19202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Docker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9AA0B4"/>
                </a:solidFill>
                <a:latin typeface="Segoe UI"/>
              </a:rPr>
              <a:t>App image: miniconda3 + Docker CLI, controls sibling containers via the mounted host socket. Each algorithm ships its own image (FEniCS lives only inside CUQI8's).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5394960" cy="19202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docker-compose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9AA0B4"/>
                </a:solidFill>
                <a:latin typeface="Segoe UI"/>
              </a:rPr>
              <a:t>Mounts ./data as a shared cache and /var/run/docker.sock so adapters can launch algorithm containers.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14800"/>
            <a:ext cx="5394960" cy="192024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9525"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300" b="1">
                <a:solidFill>
                  <a:srgbClr val="E8E8F0"/>
                </a:solidFill>
                <a:latin typeface="Segoe UI Semibold"/>
              </a:rPr>
              <a:t>GitHub Actions CI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00">
                <a:solidFill>
                  <a:srgbClr val="9AA0B4"/>
                </a:solidFill>
                <a:latin typeface="Segoe UI"/>
              </a:rPr>
              <a:t>Conda + mamba setup -&gt; flake8 -&gt; pytest with coverage, excluding Docker-dependent adapter tests from the default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WHERE THINGS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Status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94960" cy="393192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Segoe UI Semibold"/>
              </a:rPr>
              <a:t>Done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>
                <a:solidFill>
                  <a:srgbClr val="9AA0B4"/>
                </a:solidFill>
                <a:latin typeface="Segoe UI"/>
              </a:rPr>
              <a:t>- Full data pipeline: loader, subsampler, HDF5 cache
- All 3 adapters (reference + Docker) wired
- 18-metric engine, all 6 dashboard modules functional
- Docker + docker-compose + CI pipeline green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394960" cy="3931920"/>
          </a:xfrm>
          <a:prstGeom prst="roundRect">
            <a:avLst>
              <a:gd name="adj" fmla="val 4500"/>
            </a:avLst>
          </a:prstGeom>
          <a:solidFill>
            <a:srgbClr val="161628"/>
          </a:solidFill>
          <a:ln w="15875">
            <a:solidFill>
              <a:srgbClr val="F4C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91440" rtlCol="0" anchor="ctr"/>
          <a:lstStyle/>
          <a:p>
            <a:pPr algn="ctr"/>
            <a:r>
              <a:rPr sz="1500" b="1">
                <a:solidFill>
                  <a:srgbClr val="E8E8F0"/>
                </a:solidFill>
                <a:latin typeface="Segoe UI Semibold"/>
              </a:rPr>
              <a:t>Open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>
                <a:solidFill>
                  <a:srgbClr val="9AA0B4"/>
                </a:solidFill>
                <a:latin typeface="Segoe UI"/>
              </a:rPr>
              <a:t>- Test suite is currently placeholder stubs -- highest-priority gap
- Full live-Docker benchmark run across all 84 combinations
- Runtime figures for CUQI8 still to be captured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WHO BUILT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Team &amp;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AA0B4"/>
                </a:solidFill>
                <a:latin typeface="Segoe UI"/>
              </a:rPr>
              <a:t>Project HIS -- Frankfurt University of Applied Sciences -- guided by Prof. Dr. Martin Simon &amp; Emanuele Pepe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7440"/>
          <a:ext cx="1110995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4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4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73FF"/>
                          </a:solidFill>
                          <a:latin typeface="Consolas"/>
                        </a:rPr>
                        <a:t>Name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73FF"/>
                          </a:solidFill>
                          <a:latin typeface="Consolas"/>
                        </a:rPr>
                        <a:t>Student ID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73FF"/>
                          </a:solidFill>
                          <a:latin typeface="Consolas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B73FF"/>
                          </a:solidFill>
                          <a:latin typeface="Consolas"/>
                        </a:rPr>
                        <a:t>Modules</a:t>
                      </a:r>
                    </a:p>
                  </a:txBody>
                  <a:tcPr marL="73152" marR="73152" marT="36576" marB="36576" anchor="ctr">
                    <a:solidFill>
                      <a:srgbClr val="2525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Muhammad Muzammal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1541353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EIT &amp; Data Specialist / Backend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M1, M5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Smit Savani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1420825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Metrics &amp; Backend Engineer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M3, M6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Asmita Bhuva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1541650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Viz &amp; Frontend Developer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M4, M5</a:t>
                      </a:r>
                    </a:p>
                  </a:txBody>
                  <a:tcPr marL="73152" marR="73152" marT="27432" marB="27432" anchor="ctr">
                    <a:solidFill>
                      <a:srgbClr val="16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Shimul Paul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1441927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Integration &amp; DevOps Lead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C9CAD6"/>
                          </a:solidFill>
                          <a:latin typeface="Segoe UI"/>
                        </a:rPr>
                        <a:t>M2, M6</a:t>
                      </a:r>
                    </a:p>
                  </a:txBody>
                  <a:tcPr marL="73152" marR="73152" marT="27432" marB="27432" anchor="ctr">
                    <a:solidFill>
                      <a:srgbClr val="1E1E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73FF"/>
                </a:solidFill>
                <a:latin typeface="Consolas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8F0"/>
                </a:solidFill>
                <a:latin typeface="Segoe UI Semibold"/>
              </a:rPr>
              <a:t>Quick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0881360" cy="2834640"/>
          </a:xfrm>
          <a:prstGeom prst="roundRect">
            <a:avLst>
              <a:gd name="adj" fmla="val 4000"/>
            </a:avLst>
          </a:prstGeom>
          <a:solidFill>
            <a:srgbClr val="1E1E2F"/>
          </a:solidFill>
          <a:ln>
            <a:solidFill>
              <a:srgbClr val="3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/>
            <a:r>
              <a:rPr sz="1400">
                <a:solidFill>
                  <a:srgbClr val="9AA0B4"/>
                </a:solidFill>
                <a:latin typeface="Consolas"/>
              </a:rPr>
              <a:t># 1. environment</a:t>
            </a:r>
          </a:p>
          <a:p>
            <a:r>
              <a:rPr sz="1400">
                <a:solidFill>
                  <a:srgbClr val="C9CAD6"/>
                </a:solidFill>
                <a:latin typeface="Consolas"/>
              </a:rPr>
              <a:t>conda env create -f environment.yml</a:t>
            </a:r>
          </a:p>
          <a:p>
            <a:r>
              <a:rPr sz="1400">
                <a:solidFill>
                  <a:srgbClr val="C9CAD6"/>
                </a:solidFill>
                <a:latin typeface="Consolas"/>
              </a:rPr>
              <a:t>conda activate ktc-vis</a:t>
            </a:r>
          </a:p>
          <a:p>
            <a:r>
              <a:rPr sz="1400">
                <a:solidFill>
                  <a:srgbClr val="C9CAD6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9AA0B4"/>
                </a:solidFill>
                <a:latin typeface="Consolas"/>
              </a:rPr>
              <a:t># 2. populate the cache (fast, no Docker)</a:t>
            </a:r>
          </a:p>
          <a:p>
            <a:r>
              <a:rPr sz="1400">
                <a:solidFill>
                  <a:srgbClr val="C9CAD6"/>
                </a:solidFill>
                <a:latin typeface="Consolas"/>
              </a:rPr>
              <a:t>python scripts/populate_cache_from_reference.py</a:t>
            </a:r>
          </a:p>
          <a:p>
            <a:r>
              <a:rPr sz="1400">
                <a:solidFill>
                  <a:srgbClr val="C9CAD6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9AA0B4"/>
                </a:solidFill>
                <a:latin typeface="Consolas"/>
              </a:rPr>
              <a:t># 3. launch</a:t>
            </a:r>
          </a:p>
          <a:p>
            <a:r>
              <a:rPr sz="1400">
                <a:solidFill>
                  <a:srgbClr val="C9CAD6"/>
                </a:solidFill>
                <a:latin typeface="Consolas"/>
              </a:rPr>
              <a:t>python app.py   # -&gt; http://localhost:8050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8F0"/>
                </a:solidFill>
                <a:latin typeface="Segoe UI"/>
              </a:rPr>
              <a:t>Thank you -- questions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0B4"/>
                </a:solidFill>
                <a:latin typeface="Consolas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2170</Words>
  <Application>Microsoft Office PowerPoint</Application>
  <PresentationFormat>Widescreen</PresentationFormat>
  <Paragraphs>325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Smit Babubhai Savani</cp:lastModifiedBy>
  <cp:revision>1</cp:revision>
  <dcterms:created xsi:type="dcterms:W3CDTF">2013-01-27T09:14:16Z</dcterms:created>
  <dcterms:modified xsi:type="dcterms:W3CDTF">2026-07-08T19:30:30Z</dcterms:modified>
  <cp:category/>
</cp:coreProperties>
</file>